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Hzl++yWKyyvfOOfN6QIaKj0Zr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5" Type="http://schemas.openxmlformats.org/officeDocument/2006/relationships/image" Target="../media/image31.png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4.jp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dark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315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548640" y="320040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CAPSTONE · INGENIERÍA EN INFORMÁTICA · SEDE PLAZA VESPUCIO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50" y="972225"/>
            <a:ext cx="11109900" cy="1546500"/>
          </a:xfrm>
          <a:prstGeom prst="roundRect">
            <a:avLst>
              <a:gd fmla="val 8733" name="adj"/>
            </a:avLst>
          </a:prstGeom>
          <a:solidFill>
            <a:srgbClr val="FFFFFF">
              <a:alpha val="96078"/>
            </a:srgbClr>
          </a:solidFill>
          <a:ln>
            <a:noFill/>
          </a:ln>
          <a:effectLst>
            <a:outerShdw blurRad="156309" rotWithShape="0" algn="bl" dir="5400000" dist="46893">
              <a:srgbClr val="000000">
                <a:alpha val="30196"/>
              </a:srgbClr>
            </a:outerShdw>
          </a:effectLst>
        </p:spPr>
        <p:txBody>
          <a:bodyPr anchorCtr="0" anchor="ctr" bIns="112525" lIns="112525" spcFirstLastPara="1" rIns="112525" wrap="square" tIns="11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23"/>
          </a:p>
        </p:txBody>
      </p:sp>
      <p:pic>
        <p:nvPicPr>
          <p:cNvPr descr="/home/claude/finova-deck/drive_images/logo_finova_final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3225" y="1051850"/>
            <a:ext cx="3980849" cy="10873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" name="Google Shape;20;p1"/>
          <p:cNvSpPr txBox="1"/>
          <p:nvPr/>
        </p:nvSpPr>
        <p:spPr>
          <a:xfrm>
            <a:off x="2133600" y="1923625"/>
            <a:ext cx="7924500" cy="7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Contabilidad y automatización tributaria con inteligencia artificial, en un solo lugar.</a:t>
            </a:r>
            <a:endParaRPr b="1"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50" y="4433230"/>
            <a:ext cx="3520500" cy="1647600"/>
          </a:xfrm>
          <a:prstGeom prst="roundRect">
            <a:avLst>
              <a:gd fmla="val 467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clipboard_yellow.png" id="22" name="Google Shape;2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785" y="454617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 txBox="1"/>
          <p:nvPr/>
        </p:nvSpPr>
        <p:spPr>
          <a:xfrm>
            <a:off x="651985" y="44561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Pedro Ahumada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651985" y="4788612"/>
            <a:ext cx="297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PRODUCT OWNER / 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651975" y="5154300"/>
            <a:ext cx="3194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Prioriza requerimientos, arquitectura de APIs en NestJS y precisión de la lógica contable. También QA/Tester.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343400" y="4433125"/>
            <a:ext cx="3520500" cy="1647600"/>
          </a:xfrm>
          <a:prstGeom prst="roundRect">
            <a:avLst>
              <a:gd fmla="val 467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database_yellow.png" id="27" name="Google Shape;2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23795" y="454617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4499261" y="4456088"/>
            <a:ext cx="213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Nicolás Sazo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4538520" y="4842925"/>
            <a:ext cx="297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SCRUM MASTER / BASE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4538525" y="5208631"/>
            <a:ext cx="29718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Modela y administra el esquema relacional en PostgreSQL; gestiona el flujo de trabajo del equipo.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138150" y="4385755"/>
            <a:ext cx="3520500" cy="1695000"/>
          </a:xfrm>
          <a:prstGeom prst="roundRect">
            <a:avLst>
              <a:gd fmla="val 467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desktop_yellow.png" id="32" name="Google Shape;3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39830" y="450817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 txBox="1"/>
          <p:nvPr/>
        </p:nvSpPr>
        <p:spPr>
          <a:xfrm>
            <a:off x="8296605" y="4385725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Vicente San Martín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296605" y="4842937"/>
            <a:ext cx="297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FRONTEND / INTEGRACIÓN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8296600" y="5259156"/>
            <a:ext cx="29718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Interfaces en Next.js, integración de APIs y OCR, articulación visual del asistente de 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1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Caso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548640" y="1170432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Contadores, PYMEs y grandes empresas hoy pierden horas revisando información dispersa antes de declarar impuestos.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nova-deck/icons/warning_orange.png" id="45" name="Google Shape;4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2860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/>
          <p:nvPr/>
        </p:nvSpPr>
        <p:spPr>
          <a:xfrm>
            <a:off x="1325880" y="22585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nova-deck/icons/check_white.png"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22860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 txBox="1"/>
          <p:nvPr/>
        </p:nvSpPr>
        <p:spPr>
          <a:xfrm>
            <a:off x="6949440" y="22585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 solución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Mapa de Actores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48640" y="1170432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Cuatro grupos de interés priorizados por poder e interés sobre el proyecto.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31375" y="1828800"/>
            <a:ext cx="5728945" cy="4343400"/>
          </a:xfrm>
          <a:prstGeom prst="roundRect">
            <a:avLst>
              <a:gd fmla="val 3789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drive_images/mapa_actores.png" id="59" name="Google Shape;5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695" y="2057400"/>
            <a:ext cx="5180305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Fuente: Mapa de Actores — carpeta Finova Capstone (Drive).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fmla="val 12000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target_yellow.png" id="70" name="Google Shape;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549907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 txBox="1"/>
          <p:nvPr/>
        </p:nvSpPr>
        <p:spPr>
          <a:xfrm>
            <a:off x="1371600" y="15727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 General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822960" y="1993392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Desarrollar, durante el semestre académico, un MVP funcional de Finova que centralice compras, ventas y DTE, automatice su incorporación desde el SII, genere una propuesta del Formulario 29 y use un asistente de IA para detectar errores o inconsistencias.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fmla="val 12174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777240" y="331012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777240" y="33101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371600" y="3127248"/>
            <a:ext cx="429768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Centralizar la gestión de usuarios, empresas, DTE, compras y ventas en un solo sistema.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172200" y="3017520"/>
            <a:ext cx="5349240" cy="1051560"/>
          </a:xfrm>
          <a:prstGeom prst="roundRect">
            <a:avLst>
              <a:gd fmla="val 12174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6400800" y="331012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6400800" y="33101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6995160" y="3127248"/>
            <a:ext cx="429768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Automatizar la importación de información tributaria desde el SII.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4251960"/>
            <a:ext cx="5349240" cy="1051560"/>
          </a:xfrm>
          <a:prstGeom prst="roundRect">
            <a:avLst>
              <a:gd fmla="val 12174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777240" y="454456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777240" y="45445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371600" y="4361688"/>
            <a:ext cx="429768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Generar una propuesta/simulación del Formulario 29 a partir de datos procesados.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172200" y="4251960"/>
            <a:ext cx="5349240" cy="1051560"/>
          </a:xfrm>
          <a:prstGeom prst="roundRect">
            <a:avLst>
              <a:gd fmla="val 12174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400800" y="454456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 txBox="1"/>
          <p:nvPr/>
        </p:nvSpPr>
        <p:spPr>
          <a:xfrm>
            <a:off x="6400800" y="45445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6995160" y="4361688"/>
            <a:ext cx="429768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Incorporar un asistente de IA que detecte errores antes de declarar.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5486400"/>
            <a:ext cx="5349240" cy="1051560"/>
          </a:xfrm>
          <a:prstGeom prst="roundRect">
            <a:avLst>
              <a:gd fmla="val 12174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77240" y="577900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 txBox="1"/>
          <p:nvPr/>
        </p:nvSpPr>
        <p:spPr>
          <a:xfrm>
            <a:off x="777240" y="5779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1371600" y="5596128"/>
            <a:ext cx="429768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 el MVP mediante casos de prueba que demuestren reducción de tareas manuales.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172200" y="5486400"/>
            <a:ext cx="5349240" cy="1051560"/>
          </a:xfrm>
          <a:prstGeom prst="roundRect">
            <a:avLst>
              <a:gd fmla="val 12174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400800" y="577900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6400800" y="57790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6995160" y="5596128"/>
            <a:ext cx="429768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Garantizar trazabilidad, roles y seguridad sobre información tributaria sensible.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 de Trabajo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548640" y="11704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Gestión Scrumban en Jira (proyecto KAN — “Finova: El futuro”), con 6 épicas y checklist de entregables por fase.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2011680"/>
            <a:ext cx="3520440" cy="4206240"/>
          </a:xfrm>
          <a:prstGeom prst="roundRect">
            <a:avLst>
              <a:gd fmla="val 467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calendar_yellow.png" id="107" name="Google Shape;1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 txBox="1"/>
          <p:nvPr/>
        </p:nvSpPr>
        <p:spPr>
          <a:xfrm>
            <a:off x="1325880" y="226771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822960" y="278892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Definición y diseño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822960" y="3429000"/>
            <a:ext cx="29718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Análisis del caso, squad y RACI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Product Vision 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Épicas e historias de usuario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Modelo relacional y arquitectura (borrador)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4023360" y="38404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343400" y="2011680"/>
            <a:ext cx="3520440" cy="4206240"/>
          </a:xfrm>
          <a:prstGeom prst="roundRect">
            <a:avLst>
              <a:gd fmla="val 467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calendar_yellow.png"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5120640" y="226771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4617720" y="278892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Construcción (Sprints)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4617720" y="3429000"/>
            <a:ext cx="29718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Sprint Planning, Backlog y Scrumboard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Ambiente de desarrollo y BD en PostgreSQL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Desarrollo de APIs, ingesta DTE y motor F29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Burndown, Daily y Review por sprint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7818120" y="38404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138160" y="2011680"/>
            <a:ext cx="3520440" cy="4206240"/>
          </a:xfrm>
          <a:prstGeom prst="roundRect">
            <a:avLst>
              <a:gd fmla="val 467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calendar_yellow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480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8915400" y="226771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8412480" y="278892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Cierre y validación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8412480" y="3429000"/>
            <a:ext cx="29718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Pruebas unitarias, integración y 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Retrospectiva del proyecto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Informe final y manual de usuario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Demostración del MVP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Metodología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1463040"/>
            <a:ext cx="5349240" cy="3520440"/>
          </a:xfrm>
          <a:prstGeom prst="roundRect">
            <a:avLst>
              <a:gd fmla="val 467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branch_yellow.png"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7830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1325880" y="17556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Scrumban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822960" y="233172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El equipo combina Scrum y Kanban para mantener flexibilidad en el flujo de trabajo, con roles claros y ciclos cortos de entrega.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822960" y="3154680"/>
            <a:ext cx="4800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Backlog priorizado y Sprint Backlog en Jira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Scrumboard, Daily Meeting y Registro de impedimentos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Burndown Chart, Review y Retrospective por sprint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172200" y="1463040"/>
            <a:ext cx="5349240" cy="3520440"/>
          </a:xfrm>
          <a:prstGeom prst="roundRect">
            <a:avLst>
              <a:gd fmla="val 467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users_white.png" id="137" name="Google Shape;1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17830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6949440" y="175564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 épicas del proyecto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6446520" y="2331720"/>
            <a:ext cx="480060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Gestión del Core Contable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Motor Tributario y Propuesta F29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Ingesta y Gestión de DTE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Gestión de Usuarios y Empresas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Copiloto Tributario con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· Auditoría, Trazabilidad y Seguridad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fmla="val 12174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b="1" i="0" lang="en-US" sz="12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KAN — “Finova: El futuro”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Jira (pedrojahumadaf.atlassian.net). Ejemplo: HU-08 — “generar una propuesta del F29”, 13 story points, prioridad alta.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480715" y="422780"/>
            <a:ext cx="1106430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Stack Tecnológico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548640" y="1170432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Elegido para precisión numérica, modularidad y escalabilidad de un sistema contable-tributario.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2011680"/>
            <a:ext cx="3520440" cy="1965960"/>
          </a:xfrm>
          <a:prstGeom prst="roundRect">
            <a:avLst>
              <a:gd fmla="val 6512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desktop_yellow.png" id="152" name="Google Shape;1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" y="2267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 txBox="1"/>
          <p:nvPr/>
        </p:nvSpPr>
        <p:spPr>
          <a:xfrm>
            <a:off x="804672" y="2724912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Next.js + TypeScript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804672" y="3127248"/>
            <a:ext cx="30083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Frontend con SSR/edge para SEO y velocidad; tipado estático compartido con el backend.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343400" y="2011680"/>
            <a:ext cx="3520440" cy="1965960"/>
          </a:xfrm>
          <a:prstGeom prst="roundRect">
            <a:avLst>
              <a:gd fmla="val 6512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layers_yellow.png" id="156" name="Google Shape;15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9432" y="2267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4599432" y="2724912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NestJS (Node.js)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4599432" y="3127248"/>
            <a:ext cx="30083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Backend modular: facturación, tesorería y otros módulos evolucionan de forma independiente.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138160" y="2011680"/>
            <a:ext cx="3520440" cy="1965960"/>
          </a:xfrm>
          <a:prstGeom prst="roundRect">
            <a:avLst>
              <a:gd fmla="val 6512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database_yellow.png" id="160" name="Google Shape;16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4192" y="2267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/>
        </p:nvSpPr>
        <p:spPr>
          <a:xfrm>
            <a:off x="8394192" y="2724912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PostgreSQL + Redis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8394192" y="3127248"/>
            <a:ext cx="30083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Transacciones ACID y precisión numérica para montos; Redis para caché, colas y sesiones.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48640" y="4206240"/>
            <a:ext cx="3520440" cy="1965960"/>
          </a:xfrm>
          <a:prstGeom prst="roundRect">
            <a:avLst>
              <a:gd fmla="val 6512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robot_yellow.png" id="164" name="Google Shape;16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672" y="4462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 txBox="1"/>
          <p:nvPr/>
        </p:nvSpPr>
        <p:spPr>
          <a:xfrm>
            <a:off x="804672" y="4919472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OCR + LLM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804672" y="5321808"/>
            <a:ext cx="30083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OCR especializado en DTE/boletas y un LLM de propósito general para el chatbot de soporte.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343400" y="4206240"/>
            <a:ext cx="3520440" cy="1965960"/>
          </a:xfrm>
          <a:prstGeom prst="roundRect">
            <a:avLst>
              <a:gd fmla="val 6512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network_yellow.png" id="168" name="Google Shape;16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9432" y="4462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 txBox="1"/>
          <p:nvPr/>
        </p:nvSpPr>
        <p:spPr>
          <a:xfrm>
            <a:off x="4599432" y="4919472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Vercel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4599432" y="5321808"/>
            <a:ext cx="30083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Edge, CDN global, funciones serverless y CI/CD automatizado sin gestión de servidores.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138160" y="4206240"/>
            <a:ext cx="3520440" cy="1965960"/>
          </a:xfrm>
          <a:prstGeom prst="roundRect">
            <a:avLst>
              <a:gd fmla="val 6512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shield_yellow.png" id="172" name="Google Shape;17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4192" y="4462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8394192" y="4919472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Seguridad &amp; SII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8394192" y="5321808"/>
            <a:ext cx="30083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JWT/OAuth2, cifrado en tránsito y reposo, multi-tenant, módulo propio de integración SII.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Modelo Relacional (borrador)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548640" y="1170432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13 entidades del núcleo contable, organizadas en 4 etapas: identidad, estructura operativa, documentos/asientos y resúmenes de período.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273176" y="1828800"/>
            <a:ext cx="7645344" cy="4434840"/>
          </a:xfrm>
          <a:prstGeom prst="roundRect">
            <a:avLst>
              <a:gd fmla="val 2474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drive_images/mer_detalle.png" id="185" name="Google Shape;1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6056" y="2011680"/>
            <a:ext cx="7279584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Fuente: finova_erd_core_contable.png y Desglose MER — Épica 01, borrador de Nicolás Sazo (Arquitectura BD).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Diagrama de Arquitectura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548640" y="1170432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Cliente Web (Next.js) → API Backend (NestJS) → Datos e Infraestructura, con servicios externos de IA y del SII.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48640" y="1828800"/>
            <a:ext cx="7726680" cy="4505760"/>
          </a:xfrm>
          <a:prstGeom prst="roundRect">
            <a:avLst>
              <a:gd fmla="val 243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drive_images/arquitectura_componentes.jpeg" id="197" name="Google Shape;19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011680"/>
            <a:ext cx="7360920" cy="41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8503920" y="1828800"/>
            <a:ext cx="3139135" cy="4505760"/>
          </a:xfrm>
          <a:prstGeom prst="roundRect">
            <a:avLst>
              <a:gd fmla="val 3495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network_yellow.png" id="199" name="Google Shape;1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2520" y="2057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 txBox="1"/>
          <p:nvPr/>
        </p:nvSpPr>
        <p:spPr>
          <a:xfrm>
            <a:off x="9189720" y="2029968"/>
            <a:ext cx="22247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Despliegue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8732520" y="2560320"/>
            <a:ext cx="2681935" cy="331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Frontend en Vercel (edge + CDN)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Backend NestJS en contenedor 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PostgreSQL y Redis en capa de persistencia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APIs externas: SII/RCV, Modelo LLM, OCR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Fuente: Diagrama arquitectura de componentes.jpeg y Diagrama arquitectura de despliegue.pdf — carpeta Finova Capstone (Drive).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Mockups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401515" y="1188707"/>
            <a:ext cx="987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Prototipo visual UI/UX a cargo de Vicente San Martín (Development Team).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48640" y="1965960"/>
            <a:ext cx="3520440" cy="3291840"/>
          </a:xfrm>
          <a:prstGeom prst="roundRect">
            <a:avLst>
              <a:gd fmla="val 5000" name="adj"/>
            </a:avLst>
          </a:prstGeom>
          <a:solidFill>
            <a:srgbClr val="FFFFFF">
              <a:alpha val="7843"/>
            </a:srgbClr>
          </a:solidFill>
          <a:ln cap="flat" cmpd="sng" w="19050">
            <a:solidFill>
              <a:srgbClr val="FFFFFF">
                <a:alpha val="6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image_white.png" id="213" name="Google Shape;2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4540" y="2788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 txBox="1"/>
          <p:nvPr/>
        </p:nvSpPr>
        <p:spPr>
          <a:xfrm>
            <a:off x="822960" y="35204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Dashboard principal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1005840" y="402336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Resumen de período, compras, ventas y alertas de 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343400" y="1965960"/>
            <a:ext cx="3520440" cy="3291840"/>
          </a:xfrm>
          <a:prstGeom prst="roundRect">
            <a:avLst>
              <a:gd fmla="val 5000" name="adj"/>
            </a:avLst>
          </a:prstGeom>
          <a:solidFill>
            <a:srgbClr val="FFFFFF">
              <a:alpha val="7843"/>
            </a:srgbClr>
          </a:solidFill>
          <a:ln cap="flat" cmpd="sng" w="19050">
            <a:solidFill>
              <a:srgbClr val="FFFFFF">
                <a:alpha val="6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image_white.png" id="217" name="Google Shape;2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9300" y="2788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 txBox="1"/>
          <p:nvPr/>
        </p:nvSpPr>
        <p:spPr>
          <a:xfrm>
            <a:off x="4617720" y="35204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Ingesta de DTE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4800600" y="402336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Carga y validación de documentos tributarios electrónicos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138160" y="1965960"/>
            <a:ext cx="3520440" cy="3291840"/>
          </a:xfrm>
          <a:prstGeom prst="roundRect">
            <a:avLst>
              <a:gd fmla="val 5000" name="adj"/>
            </a:avLst>
          </a:prstGeom>
          <a:solidFill>
            <a:srgbClr val="FFFFFF">
              <a:alpha val="7843"/>
            </a:srgbClr>
          </a:solidFill>
          <a:ln cap="flat" cmpd="sng" w="19050">
            <a:solidFill>
              <a:srgbClr val="FFFFFF">
                <a:alpha val="6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image_white.png"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4060" y="2788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 txBox="1"/>
          <p:nvPr/>
        </p:nvSpPr>
        <p:spPr>
          <a:xfrm>
            <a:off x="8412480" y="35204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Copiloto Tributario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8595360" y="402336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Propuesta F29 y detección de inconsistencias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fmla="val 16471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image_yellow.png" id="225" name="Google Shape;22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5669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 txBox="1"/>
          <p:nvPr/>
        </p:nvSpPr>
        <p:spPr>
          <a:xfrm>
            <a:off x="1234440" y="5532120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Existe una grabación de mockup interactivo (MOCKUP.mp4) en la carpeta de Drive; se recomienda incrustarla o proyectarla en vivo durante la defensa.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main.png" id="233" name="Google Shape;2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Próximos Pasos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fmla="val 3673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rocket_yellow.png" id="236" name="Google Shape;23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8745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 txBox="1"/>
          <p:nvPr/>
        </p:nvSpPr>
        <p:spPr>
          <a:xfrm>
            <a:off x="1325880" y="184708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Fase 2 — Construcción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822960" y="2468880"/>
            <a:ext cx="4800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Cerrar el Modelo Relacional y Diagrama de Arquitectura (aún en revisión)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Configurar ambiente de desarrollo y script SQL en PostgreSQL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Implementar ingesta OCR de DTE y motor de reglas tributarias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Iniciar Sprint 1 con historias EP-01 y EP-03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172200" y="1554480"/>
            <a:ext cx="5349240" cy="4480560"/>
          </a:xfrm>
          <a:prstGeom prst="roundRect">
            <a:avLst>
              <a:gd fmla="val 3673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ova-deck/icons/shield_white.png" id="240" name="Google Shape;24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18745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 txBox="1"/>
          <p:nvPr/>
        </p:nvSpPr>
        <p:spPr>
          <a:xfrm>
            <a:off x="6949440" y="184708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Riesgos a gestionar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6446520" y="2468880"/>
            <a:ext cx="4800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limitado a servicios y esquemas del SII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Cambios en normativa tributaria durante el 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Precisión de respuestas del asistente de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Manejo seguro de información tributaria sensible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finova-deck/bg/bg_dark.png" id="249" name="Google Shape;2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548640" y="685800"/>
            <a:ext cx="10972800" cy="1188600"/>
          </a:xfrm>
          <a:prstGeom prst="rect">
            <a:avLst/>
          </a:prstGeom>
          <a:noFill/>
          <a:ln>
            <a:noFill/>
          </a:ln>
          <a:effectLst>
            <a:outerShdw blurRad="203200" rotWithShape="0" algn="bl" dir="16200000" dist="50800">
              <a:srgbClr val="FFD23F">
                <a:alpha val="4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Finova le devuelve el tiempo al contador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68665" y="3097635"/>
            <a:ext cx="11064300" cy="1965900"/>
          </a:xfrm>
          <a:prstGeom prst="roundRect">
            <a:avLst>
              <a:gd fmla="val 8372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868680" y="2194560"/>
            <a:ext cx="104241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Centralizar compras, ventas y DTE, automatizar la sincronización con el SII y sumar un copiloto tributario de IA reduce las tareas repetitivas y el riesgo de errores en la declaración tributaria.</a:t>
            </a:r>
            <a:b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No buscamos reemplazar al profesional contable: buscamos convertir su trabajo diario en un centro de control estratégico, con más tiempo para asesorar y menos tiempo tipeando planillas.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48640" y="4251960"/>
            <a:ext cx="2606040" cy="1737360"/>
          </a:xfrm>
          <a:prstGeom prst="roundRect">
            <a:avLst>
              <a:gd fmla="val 8421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548640" y="448056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B347"/>
                </a:solidFill>
                <a:latin typeface="Cambria"/>
                <a:ea typeface="Cambria"/>
                <a:cs typeface="Cambria"/>
                <a:sym typeface="Cambria"/>
              </a:rPr>
              <a:t>60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685800" y="53035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usuarios activos en 6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3383280" y="4251960"/>
            <a:ext cx="2606040" cy="1737360"/>
          </a:xfrm>
          <a:prstGeom prst="roundRect">
            <a:avLst>
              <a:gd fmla="val 8421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 txBox="1"/>
          <p:nvPr/>
        </p:nvSpPr>
        <p:spPr>
          <a:xfrm>
            <a:off x="3383280" y="448056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B347"/>
                </a:solidFill>
                <a:latin typeface="Cambria"/>
                <a:ea typeface="Cambria"/>
                <a:cs typeface="Cambria"/>
                <a:sym typeface="Cambria"/>
              </a:rPr>
              <a:t>98%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3520440" y="53035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sincronización exitosa con SII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217920" y="4251960"/>
            <a:ext cx="2606040" cy="1737360"/>
          </a:xfrm>
          <a:prstGeom prst="roundRect">
            <a:avLst>
              <a:gd fmla="val 8421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 txBox="1"/>
          <p:nvPr/>
        </p:nvSpPr>
        <p:spPr>
          <a:xfrm>
            <a:off x="6217920" y="448056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B347"/>
                </a:solidFill>
                <a:latin typeface="Cambria"/>
                <a:ea typeface="Cambria"/>
                <a:cs typeface="Cambria"/>
                <a:sym typeface="Cambria"/>
              </a:rPr>
              <a:t>85%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6355080" y="53035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retención mensual en 8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9052560" y="4251960"/>
            <a:ext cx="2606040" cy="1737360"/>
          </a:xfrm>
          <a:prstGeom prst="roundRect">
            <a:avLst>
              <a:gd fmla="val 8421" name="adj"/>
            </a:avLst>
          </a:prstGeom>
          <a:solidFill>
            <a:srgbClr val="1A1A1A">
              <a:alpha val="41961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 txBox="1"/>
          <p:nvPr/>
        </p:nvSpPr>
        <p:spPr>
          <a:xfrm>
            <a:off x="9052560" y="448056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B347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9189720" y="53035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contrato corporativo en 18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F5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F5EE"/>
                </a:solidFill>
                <a:latin typeface="Calibri"/>
                <a:ea typeface="Calibri"/>
                <a:cs typeface="Calibri"/>
                <a:sym typeface="Calibri"/>
              </a:rPr>
              <a:t>12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2026-08-31T15:40:59Z</dcterms:created>
  <dc:creator>Equipo Finova</dc:creator>
</cp:coreProperties>
</file>